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Neue Haas Grotesk Text Pro" panose="020B0504020202020204" pitchFamily="34" charset="0"/>
      <p:regular r:id="rId11"/>
    </p:embeddedFont>
    <p:embeddedFont>
      <p:font typeface="Raleway" pitchFamily="2" charset="0"/>
      <p:regular r:id="rId12"/>
    </p:embeddedFont>
    <p:embeddedFont>
      <p:font typeface="Raleway Light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906" y="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5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652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235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622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261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4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567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486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534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679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140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922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19043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71432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13741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3556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994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8098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5550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1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60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7629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6955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2032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9769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1315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95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66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50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9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48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Clutch Nexus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57611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Supply Chain Disruption Assistant &amp; Fleet Utilisation Optimizer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2415" y="2664123"/>
            <a:ext cx="5470785" cy="1796355"/>
          </a:xfrm>
          <a:prstGeom prst="roundRect">
            <a:avLst>
              <a:gd name="adj" fmla="val 662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82942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IBM Bob Hackathon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253184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Track: AI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Team: Clutch Nexus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82942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3253184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Bhargav Zalariya — Team Lead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Prey Patel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Himesh Male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Kanan Sharma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9516" y="4832548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disruption detection to recovery — one connected supply-chain control tower.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646513"/>
            <a:ext cx="19050" cy="636687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3472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Supply-Chain Disruptions Create a Chain Reaction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47155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disruption rarely affects only one shipment. Traditional response is fragmented — each layer of impact handled in isolation, slowing recovery and compounding risk.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418332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Cascade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1716683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1914723"/>
            <a:ext cx="528306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002135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Disruption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2381845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1475" y="2579886"/>
            <a:ext cx="528306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667298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Affected Shipments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475" y="3047008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1475" y="3245048"/>
            <a:ext cx="528306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332460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Routes &amp; Network Nodes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3712170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1475" y="3910211"/>
            <a:ext cx="528306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3997623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Fleet Capacity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1475" y="4377333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1475" y="4575373"/>
            <a:ext cx="528306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662785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Cold-Chain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475" y="5042495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1475" y="5240536"/>
            <a:ext cx="528306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5327948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Exposure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1475" y="5707658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07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1475" y="5905698"/>
            <a:ext cx="528306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5" name="Text 23"/>
          <p:cNvSpPr/>
          <p:nvPr/>
        </p:nvSpPr>
        <p:spPr>
          <a:xfrm>
            <a:off x="661475" y="5993110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Recovery Decisions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53502" y="1418332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Challenges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502" y="1716683"/>
            <a:ext cx="2595001" cy="62071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41021" y="1853406"/>
            <a:ext cx="2270763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Disruptions can affect multiple shipments and routes simultaneously</a:t>
            </a:r>
            <a:endParaRPr lang="en-US" sz="9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1469" y="1716683"/>
            <a:ext cx="2595101" cy="620713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128988" y="1853406"/>
            <a:ext cx="227086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Operations teams need to identify the full downstream impact quickly</a:t>
            </a:r>
            <a:endParaRPr lang="en-US" sz="95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502" y="2430363"/>
            <a:ext cx="2595001" cy="620713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441021" y="2567087"/>
            <a:ext cx="2270763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Fleet capacity may become poorly utilised while urgent cargo is delayed</a:t>
            </a:r>
            <a:endParaRPr lang="en-US" sz="9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1469" y="2430363"/>
            <a:ext cx="2595101" cy="62071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128988" y="2567087"/>
            <a:ext cx="227086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Temperature-sensitive cargo requires additional monitoring</a:t>
            </a:r>
            <a:endParaRPr lang="en-US" sz="9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502" y="3144044"/>
            <a:ext cx="2595001" cy="62071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441021" y="3280767"/>
            <a:ext cx="2270763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Recovery options involve trade-offs between time, cost, capacity and risk</a:t>
            </a:r>
            <a:endParaRPr lang="en-US" sz="95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1469" y="3144044"/>
            <a:ext cx="2595101" cy="62071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28988" y="3280767"/>
            <a:ext cx="227086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Decision-making across these factors is often fragmented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6253502" y="3869333"/>
            <a:ext cx="5283068" cy="576461"/>
          </a:xfrm>
          <a:prstGeom prst="roundRect">
            <a:avLst>
              <a:gd name="adj" fmla="val 9038"/>
            </a:avLst>
          </a:prstGeom>
          <a:solidFill>
            <a:srgbClr val="E1E1EA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522" y="4011712"/>
            <a:ext cx="154976" cy="12402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656519" y="3983930"/>
            <a:ext cx="475603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 disruption occurs, what is affected, how severe is the impact, and what recovery action should be taken?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8830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Clutch Nexus: A Connected Supply-Chain Recovery Control Tower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133574"/>
            <a:ext cx="11478330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Clutch Nexus connects disruption analysis and operational recovery in a single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1475" y="1461393"/>
            <a:ext cx="5377621" cy="1493242"/>
          </a:xfrm>
          <a:prstGeom prst="roundRect">
            <a:avLst>
              <a:gd name="adj" fmla="val 38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743" y="1604665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750" y="1717675"/>
            <a:ext cx="184840" cy="1848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743" y="2128937"/>
            <a:ext cx="5091084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743" y="2410916"/>
            <a:ext cx="5091084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active supply-chain disruptions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52500" y="1461393"/>
            <a:ext cx="5377720" cy="1493242"/>
          </a:xfrm>
          <a:prstGeom prst="roundRect">
            <a:avLst>
              <a:gd name="adj" fmla="val 38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5768" y="1604665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8776" y="1717675"/>
            <a:ext cx="184840" cy="1848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5768" y="2128937"/>
            <a:ext cx="5091184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Cascade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95768" y="2410916"/>
            <a:ext cx="5091184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Trace impact across shipments, routes, network nodes, fleet capacity, cold-chain cargo, and financial exposure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61475" y="3068042"/>
            <a:ext cx="5377621" cy="1293019"/>
          </a:xfrm>
          <a:prstGeom prst="roundRect">
            <a:avLst>
              <a:gd name="adj" fmla="val 44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743" y="3211314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7750" y="3324324"/>
            <a:ext cx="184840" cy="1848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743" y="3735586"/>
            <a:ext cx="5091084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Prioritise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4743" y="4017566"/>
            <a:ext cx="5091084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critical shipments and high-risk cargo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52500" y="3068042"/>
            <a:ext cx="5377720" cy="1293019"/>
          </a:xfrm>
          <a:prstGeom prst="roundRect">
            <a:avLst>
              <a:gd name="adj" fmla="val 44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95768" y="3211314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8776" y="3324324"/>
            <a:ext cx="184840" cy="1848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5768" y="3735586"/>
            <a:ext cx="5091184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Optimise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95768" y="4017566"/>
            <a:ext cx="5091184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Google OR-Tools CP-SAT to generate fleet redeployment recommendations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61475" y="4474468"/>
            <a:ext cx="5377621" cy="1293019"/>
          </a:xfrm>
          <a:prstGeom prst="roundRect">
            <a:avLst>
              <a:gd name="adj" fmla="val 44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743" y="4617740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7750" y="4730750"/>
            <a:ext cx="184840" cy="18484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743" y="5142012"/>
            <a:ext cx="5091084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Simulate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04743" y="5423991"/>
            <a:ext cx="5091084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alternative recovery strategies using What-If scenarios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52500" y="4474468"/>
            <a:ext cx="5377720" cy="1293019"/>
          </a:xfrm>
          <a:prstGeom prst="roundRect">
            <a:avLst>
              <a:gd name="adj" fmla="val 444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95768" y="4617740"/>
            <a:ext cx="410855" cy="41086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8776" y="4730750"/>
            <a:ext cx="184840" cy="18484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95768" y="5142012"/>
            <a:ext cx="5091184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95768" y="5423991"/>
            <a:ext cx="5091184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cold-chain excursions and network conditions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61475" y="5895082"/>
            <a:ext cx="10868745" cy="484088"/>
          </a:xfrm>
          <a:prstGeom prst="roundRect">
            <a:avLst>
              <a:gd name="adj" fmla="val 11883"/>
            </a:avLst>
          </a:prstGeom>
          <a:solidFill>
            <a:srgbClr val="E1E1EA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393" y="6056213"/>
            <a:ext cx="171148" cy="13692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106460" y="6042720"/>
            <a:ext cx="10896427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Impact Cascade Engine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connects a disruption to its operational and financial consequences instead of treating it as an isolated alert.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7618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Clutch Nexus Works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123752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639590"/>
            <a:ext cx="52768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742281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Next.js Frontend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2045097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· Maps · UI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2627313"/>
            <a:ext cx="52768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730004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FastAPI Backend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1475" y="3032820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layer — Python 3.11+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1475" y="3615035"/>
            <a:ext cx="52768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717727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Engines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1475" y="4020542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 Cascade Engine · Fleet Optimizer (OR-Tools CP-SAT) · What-If Scenarios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1475" y="4602758"/>
            <a:ext cx="52768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4705449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Data Layer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475" y="5008265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+ SQLAlchemy · Pydantic v2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1475" y="5590480"/>
            <a:ext cx="52768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5693172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Visualisation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1475" y="5995988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Recharts · Leaflet · Cold-Chain Telemetry + Network 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59753" y="1123752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9753" y="1439168"/>
          <a:ext cx="5276818" cy="2262630"/>
        </p:xfrm>
        <a:graphic>
          <a:graphicData uri="http://schemas.openxmlformats.org/drawingml/2006/table">
            <a:tbl>
              <a:tblPr/>
              <a:tblGrid>
                <a:gridCol w="2638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Layer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Technology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Frontend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Next.js 14, TypeScript, Tailwind CSS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Backend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FastAPI, Python 3.11+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Optimisation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Google OR-Tools CP-SAT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SQLite, SQLAlchemy, Pydantic v2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Visualisation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Recharts, Leaflet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Development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IBM Bob</a:t>
                      </a:r>
                      <a:endParaRPr lang="en-US" sz="10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Disruption. Complete Operational Visibility.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61475" y="795933"/>
            <a:ext cx="3595399" cy="542925"/>
          </a:xfrm>
          <a:prstGeom prst="roundRect">
            <a:avLst>
              <a:gd name="adj" fmla="val 639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6822" y="891282"/>
            <a:ext cx="34047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 Cascade Engine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56822" y="1045270"/>
            <a:ext cx="340470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Maps the full chain reaction: Disruption → Shipments → Routes → Fleet → Cold Chain → Financial Impact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298148" y="795933"/>
            <a:ext cx="3595399" cy="542925"/>
          </a:xfrm>
          <a:prstGeom prst="roundRect">
            <a:avLst>
              <a:gd name="adj" fmla="val 639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93495" y="891282"/>
            <a:ext cx="34047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Fleet Optimisation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93495" y="1045270"/>
            <a:ext cx="3404705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OR-Tools CP-SAT evaluates available capacity and constraints to generate fleet redeployment recommendations.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7934821" y="795933"/>
            <a:ext cx="3595399" cy="542925"/>
          </a:xfrm>
          <a:prstGeom prst="roundRect">
            <a:avLst>
              <a:gd name="adj" fmla="val 639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30168" y="891282"/>
            <a:ext cx="340470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Cold-Chain Monitoring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30168" y="1045270"/>
            <a:ext cx="340470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simulated temperature excursions for temperature-sensitive shipments.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61475" y="1380133"/>
            <a:ext cx="5413736" cy="443805"/>
          </a:xfrm>
          <a:prstGeom prst="roundRect">
            <a:avLst>
              <a:gd name="adj" fmla="val 782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822" y="1475482"/>
            <a:ext cx="522304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What-If Simulator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56822" y="1629470"/>
            <a:ext cx="5223042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Tests alternative recovery strategies and compares delay, shipments recovered, risk reduction, and additional recovery cost.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116484" y="1380133"/>
            <a:ext cx="5413736" cy="443805"/>
          </a:xfrm>
          <a:prstGeom prst="roundRect">
            <a:avLst>
              <a:gd name="adj" fmla="val 782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1831" y="1475482"/>
            <a:ext cx="522304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Network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1831" y="1629470"/>
            <a:ext cx="5223042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Leaflet map showing network nodes, connections and disruption locations.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61475" y="1870373"/>
            <a:ext cx="10868745" cy="218877"/>
          </a:xfrm>
          <a:prstGeom prst="roundRect">
            <a:avLst>
              <a:gd name="adj" fmla="val 15868"/>
            </a:avLst>
          </a:prstGeom>
          <a:solidFill>
            <a:srgbClr val="E1E1EA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2" y="1932285"/>
            <a:ext cx="103284" cy="8264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30053" y="1932285"/>
            <a:ext cx="11127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Bottom line:</a:t>
            </a: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"What happened?" to "What should we do next?"</a:t>
            </a:r>
            <a:endParaRPr lang="en-US" sz="6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35684"/>
            <a:ext cx="10153396" cy="5708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16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 with IBM Bob + AI-Assisted Engineering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546423"/>
            <a:ext cx="5470785" cy="4529931"/>
          </a:xfrm>
          <a:prstGeom prst="roundRect">
            <a:avLst>
              <a:gd name="adj" fmla="val 262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711722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IBM Bob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135485"/>
            <a:ext cx="514019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IBM Bob was used throughout development to accelerate application architecture, frontend and backend implementation, feature development, testing and debugging, documentation, and deployment preparation.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3359249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AI-Assisted Development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783013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solution was developed through an AI-assisted software engineering workflow, while keeping the core operational calculations deterministic and explainable.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171172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Intelligence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2156222"/>
            <a:ext cx="2533686" cy="237400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64446" y="2340570"/>
            <a:ext cx="208880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 Cascade Engine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64446" y="3022798"/>
            <a:ext cx="208880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dependency mapping · Shipment impact analysis · Network propagation · Financial exposure calculation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2884" y="2156222"/>
            <a:ext cx="2533686" cy="23740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263426" y="2340570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OR-Tools CP-SAT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263426" y="2764334"/>
            <a:ext cx="208880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Constraint-based fleet optimisation · Capacity allocation · Priority-aware recovery · Operational recommendations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03904" y="4716264"/>
            <a:ext cx="5232666" cy="1174055"/>
          </a:xfrm>
          <a:prstGeom prst="roundRect">
            <a:avLst>
              <a:gd name="adj" fmla="val 5917"/>
            </a:avLst>
          </a:prstGeom>
          <a:solidFill>
            <a:srgbClr val="E1E1E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198" y="4962327"/>
            <a:ext cx="206667" cy="1652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41160" y="4906367"/>
            <a:ext cx="45301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innovation is not just detecting a disruption — it is connecting the disruption to its cascading operational impact and recovery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5697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Disruption to Recovery Decisions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1029494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Prototype Dataset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342628"/>
            <a:ext cx="52988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1820863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Shipments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2199382"/>
            <a:ext cx="52988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661475" y="2677616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Nodes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1475" y="3056136"/>
            <a:ext cx="52988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61475" y="3534370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 Disruptions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1475" y="3912890"/>
            <a:ext cx="52988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52.9%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61475" y="4391124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Baseline Fleet Utilisation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1475" y="4769644"/>
            <a:ext cx="52988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$78.8M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61475" y="5247878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Cargo Value at Risk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1475" y="5626398"/>
            <a:ext cx="52988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$127M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61475" y="6104632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Estimated Total Impact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7727" y="1029494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Demonstrated Recovery Scenario: Mumbai Port Partial Closure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7727" y="1287066"/>
          <a:ext cx="5298843" cy="1279495"/>
        </p:xfrm>
        <a:graphic>
          <a:graphicData uri="http://schemas.openxmlformats.org/drawingml/2006/table">
            <a:tbl>
              <a:tblPr/>
              <a:tblGrid>
                <a:gridCol w="176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9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Metric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Baseline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JNPT Reroute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Average Delay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108h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36h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Shipments Recovered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—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12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Risk Reduction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—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42% lower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9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Additional Cost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—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+$1.2M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237727" y="2663230"/>
            <a:ext cx="5298843" cy="487164"/>
          </a:xfrm>
          <a:prstGeom prst="roundRect">
            <a:avLst>
              <a:gd name="adj" fmla="val 9580"/>
            </a:avLst>
          </a:prstGeom>
          <a:solidFill>
            <a:srgbClr val="E1E1EA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849" y="2776339"/>
            <a:ext cx="138903" cy="1111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98874" y="2758182"/>
            <a:ext cx="4826574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Message:</a:t>
            </a: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What-If engine makes recovery trade-offs visible before an operational decision is made.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237727" y="3234333"/>
            <a:ext cx="590842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figures shown are from a deterministic synthetic prototype dataset and are not live operational/customer data.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72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Clutch Nexus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9008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09659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connected control tower that helps supply-chain teams move from disruption detection to coordinated recovery decisions.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547243"/>
            <a:ext cx="10868745" cy="1918494"/>
          </a:xfrm>
          <a:prstGeom prst="roundRect">
            <a:avLst>
              <a:gd name="adj" fmla="val 362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825" y="2553593"/>
            <a:ext cx="3618616" cy="952897"/>
          </a:xfrm>
          <a:custGeom>
            <a:avLst/>
            <a:gdLst/>
            <a:ahLst/>
            <a:cxnLst/>
            <a:rect l="l" t="t" r="r" b="b"/>
            <a:pathLst>
              <a:path w="3618616" h="952897">
                <a:moveTo>
                  <a:pt x="57887" y="0"/>
                </a:moveTo>
                <a:lnTo>
                  <a:pt x="3618616" y="0"/>
                </a:lnTo>
                <a:lnTo>
                  <a:pt x="3618616" y="952897"/>
                </a:lnTo>
                <a:lnTo>
                  <a:pt x="0" y="952897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5"/>
          <p:cNvSpPr/>
          <p:nvPr/>
        </p:nvSpPr>
        <p:spPr>
          <a:xfrm>
            <a:off x="833119" y="2718891"/>
            <a:ext cx="32880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119" y="3076575"/>
            <a:ext cx="32880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Supply-chain disruptions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6440" y="2553593"/>
            <a:ext cx="3618715" cy="952897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0" name="Shape 8"/>
          <p:cNvSpPr/>
          <p:nvPr/>
        </p:nvSpPr>
        <p:spPr>
          <a:xfrm>
            <a:off x="4286440" y="2553593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9"/>
          <p:cNvSpPr/>
          <p:nvPr/>
        </p:nvSpPr>
        <p:spPr>
          <a:xfrm>
            <a:off x="4451735" y="2718891"/>
            <a:ext cx="32881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51735" y="3076575"/>
            <a:ext cx="32881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Cascading operational impact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155" y="2553593"/>
            <a:ext cx="3618715" cy="952897"/>
          </a:xfrm>
          <a:custGeom>
            <a:avLst/>
            <a:gdLst/>
            <a:ahLst/>
            <a:cxnLst/>
            <a:rect l="l" t="t" r="r" b="b"/>
            <a:pathLst>
              <a:path w="3618715" h="952897">
                <a:moveTo>
                  <a:pt x="0" y="0"/>
                </a:moveTo>
                <a:lnTo>
                  <a:pt x="3560828" y="0"/>
                </a:lnTo>
                <a:arcTo wR="57887" hR="57888" stAng="16200000" swAng="5400000"/>
                <a:lnTo>
                  <a:pt x="3618715" y="952897"/>
                </a:lnTo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5155" y="2553593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Text 13"/>
          <p:cNvSpPr/>
          <p:nvPr/>
        </p:nvSpPr>
        <p:spPr>
          <a:xfrm>
            <a:off x="8070450" y="2718891"/>
            <a:ext cx="32881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70450" y="3076575"/>
            <a:ext cx="32881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Fleet recovery with OR-Tools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825" y="3506490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57887" y="952897"/>
                </a:lnTo>
                <a:arcTo wR="57887" hR="57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825" y="3506490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7"/>
          <p:cNvSpPr/>
          <p:nvPr/>
        </p:nvSpPr>
        <p:spPr>
          <a:xfrm>
            <a:off x="833119" y="3671788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119" y="4029472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Cold-chain shipments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95848" y="3506490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895008"/>
                </a:lnTo>
                <a:arcTo wR="57887" hR="57888" stAng="0" swAng="5400000"/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3506490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3506490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4" name="Text 22"/>
          <p:cNvSpPr/>
          <p:nvPr/>
        </p:nvSpPr>
        <p:spPr>
          <a:xfrm>
            <a:off x="6261142" y="3671788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1142" y="4029472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Recovery strategies through What-If simulation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2415" y="4651772"/>
            <a:ext cx="5470785" cy="1198959"/>
          </a:xfrm>
          <a:prstGeom prst="roundRect">
            <a:avLst>
              <a:gd name="adj" fmla="val 993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07710" y="481707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Built with IBM Bob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7710" y="5240834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Bhargav Zalariya · Prey Patel · Himesh Male · Kanan Sharma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51945" y="4986635"/>
            <a:ext cx="49846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disruption happens, Clutch Nexus shows what breaks — and what can be recovered.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3904" y="4837807"/>
            <a:ext cx="19050" cy="826889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3</TotalTime>
  <Words>781</Words>
  <Application>Microsoft Office PowerPoint</Application>
  <PresentationFormat>Widescreen</PresentationFormat>
  <Paragraphs>157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Roboto Bold</vt:lpstr>
      <vt:lpstr>Neue Haas Grotesk Text Pro</vt:lpstr>
      <vt:lpstr>Arial</vt:lpstr>
      <vt:lpstr>Roboto</vt:lpstr>
      <vt:lpstr>Raleway</vt:lpstr>
      <vt:lpstr>Raleway Light</vt:lpstr>
      <vt:lpstr>Helena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bhargav zalariya</cp:lastModifiedBy>
  <cp:revision>2</cp:revision>
  <dcterms:created xsi:type="dcterms:W3CDTF">2026-09-15T18:02:07Z</dcterms:created>
  <dcterms:modified xsi:type="dcterms:W3CDTF">2026-09-15T18:09:42Z</dcterms:modified>
</cp:coreProperties>
</file>